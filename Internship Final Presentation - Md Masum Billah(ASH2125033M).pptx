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Raleway"/>
      <p:bold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Raleway-bold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cb089818d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bcb089818d_0_3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cb089818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bcb089818d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bcb089818d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bcb089818d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cb089818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bcb089818d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bcb089818d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bcb089818d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bcb089818d_0_6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g3bcb089818d_0_65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18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18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1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1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1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1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21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3" name="Google Shape;133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22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0" name="Google Shape;140;p22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2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2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6" name="Google Shape;146;p2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2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2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hyperlink" Target="https://www.btracsolutions.com" TargetMode="External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" name="Google Shape;159;p25"/>
          <p:cNvGrpSpPr/>
          <p:nvPr/>
        </p:nvGrpSpPr>
        <p:grpSpPr>
          <a:xfrm>
            <a:off x="0" y="-144661"/>
            <a:ext cx="18288000" cy="5288161"/>
            <a:chOff x="0" y="-38100"/>
            <a:chExt cx="4816593" cy="1392767"/>
          </a:xfrm>
        </p:grpSpPr>
        <p:sp>
          <p:nvSpPr>
            <p:cNvPr id="160" name="Google Shape;160;p25"/>
            <p:cNvSpPr/>
            <p:nvPr/>
          </p:nvSpPr>
          <p:spPr>
            <a:xfrm>
              <a:off x="0" y="0"/>
              <a:ext cx="4816592" cy="1354667"/>
            </a:xfrm>
            <a:custGeom>
              <a:rect b="b" l="l" r="r" t="t"/>
              <a:pathLst>
                <a:path extrusionOk="0" h="1354667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8AB6EB"/>
            </a:solidFill>
            <a:ln>
              <a:noFill/>
            </a:ln>
          </p:spPr>
        </p:sp>
        <p:sp>
          <p:nvSpPr>
            <p:cNvPr id="161" name="Google Shape;161;p25"/>
            <p:cNvSpPr txBox="1"/>
            <p:nvPr/>
          </p:nvSpPr>
          <p:spPr>
            <a:xfrm>
              <a:off x="0" y="-38100"/>
              <a:ext cx="4816593" cy="13927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2" name="Google Shape;162;p25"/>
          <p:cNvGrpSpPr/>
          <p:nvPr/>
        </p:nvGrpSpPr>
        <p:grpSpPr>
          <a:xfrm>
            <a:off x="3277911" y="1494602"/>
            <a:ext cx="11732183" cy="6289050"/>
            <a:chOff x="0" y="-200025"/>
            <a:chExt cx="3089957" cy="1656375"/>
          </a:xfrm>
        </p:grpSpPr>
        <p:sp>
          <p:nvSpPr>
            <p:cNvPr id="163" name="Google Shape;163;p25"/>
            <p:cNvSpPr/>
            <p:nvPr/>
          </p:nvSpPr>
          <p:spPr>
            <a:xfrm>
              <a:off x="0" y="0"/>
              <a:ext cx="3089957" cy="1456350"/>
            </a:xfrm>
            <a:custGeom>
              <a:rect b="b" l="l" r="r" t="t"/>
              <a:pathLst>
                <a:path extrusionOk="0" h="1456350" w="3089957">
                  <a:moveTo>
                    <a:pt x="0" y="0"/>
                  </a:moveTo>
                  <a:lnTo>
                    <a:pt x="3089957" y="0"/>
                  </a:lnTo>
                  <a:lnTo>
                    <a:pt x="3089957" y="1456350"/>
                  </a:lnTo>
                  <a:lnTo>
                    <a:pt x="0" y="14563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64" name="Google Shape;164;p25"/>
            <p:cNvSpPr txBox="1"/>
            <p:nvPr/>
          </p:nvSpPr>
          <p:spPr>
            <a:xfrm>
              <a:off x="0" y="-200025"/>
              <a:ext cx="3089956" cy="1656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999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INTERNSHIP 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999">
                  <a:latin typeface="Raleway"/>
                  <a:ea typeface="Raleway"/>
                  <a:cs typeface="Raleway"/>
                  <a:sym typeface="Raleway"/>
                </a:rPr>
                <a:t>Final</a:t>
              </a:r>
              <a:r>
                <a:rPr b="1" i="0" lang="en-US" sz="9999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 PRESENTATION</a:t>
              </a:r>
              <a:endParaRPr/>
            </a:p>
          </p:txBody>
        </p:sp>
      </p:grpSp>
      <p:sp>
        <p:nvSpPr>
          <p:cNvPr id="165" name="Google Shape;165;p25"/>
          <p:cNvSpPr txBox="1"/>
          <p:nvPr/>
        </p:nvSpPr>
        <p:spPr>
          <a:xfrm>
            <a:off x="6995181" y="8513761"/>
            <a:ext cx="4297638" cy="1030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Presented by</a:t>
            </a:r>
            <a:endParaRPr/>
          </a:p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93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Md Masum Billah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/>
          <p:nvPr/>
        </p:nvSpPr>
        <p:spPr>
          <a:xfrm>
            <a:off x="8500670" y="1582794"/>
            <a:ext cx="1286659" cy="887795"/>
          </a:xfrm>
          <a:custGeom>
            <a:rect b="b" l="l" r="r" t="t"/>
            <a:pathLst>
              <a:path extrusionOk="0" h="887795" w="1286659">
                <a:moveTo>
                  <a:pt x="0" y="0"/>
                </a:moveTo>
                <a:lnTo>
                  <a:pt x="1286660" y="0"/>
                </a:lnTo>
                <a:lnTo>
                  <a:pt x="1286660" y="887795"/>
                </a:lnTo>
                <a:lnTo>
                  <a:pt x="0" y="8877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1" name="Google Shape;171;p26"/>
          <p:cNvSpPr txBox="1"/>
          <p:nvPr/>
        </p:nvSpPr>
        <p:spPr>
          <a:xfrm>
            <a:off x="1302555" y="2741905"/>
            <a:ext cx="15682891" cy="5048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3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B-Trac Solutions Ltd. is a prominent ICT (Information &amp; Communications Technology) company based in Dhaka, Bangladesh. It specializes in digital services, IoT solutions, and software development for web, mobile, desktop, and embedded systems. </a:t>
            </a:r>
            <a:endParaRPr/>
          </a:p>
          <a:p>
            <a:pPr indent="0" lvl="0" marL="0" marR="0" rtl="0" algn="just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03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just">
              <a:lnSpc>
                <a:spcPct val="139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03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They operate under the Bangla Trac Group.</a:t>
            </a:r>
            <a:endParaRPr/>
          </a:p>
        </p:txBody>
      </p:sp>
      <p:sp>
        <p:nvSpPr>
          <p:cNvPr id="172" name="Google Shape;172;p26"/>
          <p:cNvSpPr txBox="1"/>
          <p:nvPr/>
        </p:nvSpPr>
        <p:spPr>
          <a:xfrm>
            <a:off x="12745028" y="800735"/>
            <a:ext cx="4514272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About  the Company</a:t>
            </a:r>
            <a:endParaRPr/>
          </a:p>
        </p:txBody>
      </p:sp>
      <p:sp>
        <p:nvSpPr>
          <p:cNvPr id="173" name="Google Shape;173;p26"/>
          <p:cNvSpPr txBox="1"/>
          <p:nvPr/>
        </p:nvSpPr>
        <p:spPr>
          <a:xfrm>
            <a:off x="12745028" y="9030335"/>
            <a:ext cx="4514272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https://www.btracsolutions.com</a:t>
            </a:r>
            <a:endParaRPr/>
          </a:p>
        </p:txBody>
      </p:sp>
      <p:pic>
        <p:nvPicPr>
          <p:cNvPr id="174" name="Google Shape;174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875200" y="7430900"/>
            <a:ext cx="4223500" cy="15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7"/>
          <p:cNvPicPr preferRelativeResize="0"/>
          <p:nvPr/>
        </p:nvPicPr>
        <p:blipFill rotWithShape="1">
          <a:blip r:embed="rId3">
            <a:alphaModFix/>
          </a:blip>
          <a:srcRect b="1242" l="0" r="0" t="1242"/>
          <a:stretch/>
        </p:blipFill>
        <p:spPr>
          <a:xfrm>
            <a:off x="1028700" y="1393960"/>
            <a:ext cx="7690167" cy="749908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7"/>
          <p:cNvSpPr txBox="1"/>
          <p:nvPr/>
        </p:nvSpPr>
        <p:spPr>
          <a:xfrm>
            <a:off x="12745028" y="800735"/>
            <a:ext cx="451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Raleway"/>
                <a:ea typeface="Raleway"/>
                <a:cs typeface="Raleway"/>
                <a:sym typeface="Raleway"/>
              </a:rPr>
              <a:t>Internship </a:t>
            </a:r>
            <a:r>
              <a:rPr b="0" i="0" lang="en-US" sz="23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Supervisor</a:t>
            </a:r>
            <a:endParaRPr/>
          </a:p>
        </p:txBody>
      </p:sp>
      <p:sp>
        <p:nvSpPr>
          <p:cNvPr id="181" name="Google Shape;181;p27"/>
          <p:cNvSpPr txBox="1"/>
          <p:nvPr/>
        </p:nvSpPr>
        <p:spPr>
          <a:xfrm>
            <a:off x="6886864" y="9344025"/>
            <a:ext cx="4514272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mazba.kamal@btracsl.com</a:t>
            </a:r>
            <a:endParaRPr/>
          </a:p>
        </p:txBody>
      </p:sp>
      <p:sp>
        <p:nvSpPr>
          <p:cNvPr id="182" name="Google Shape;182;p27"/>
          <p:cNvSpPr txBox="1"/>
          <p:nvPr/>
        </p:nvSpPr>
        <p:spPr>
          <a:xfrm>
            <a:off x="9543444" y="2742451"/>
            <a:ext cx="7782531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Md. Mazba Kamal</a:t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11103101" y="4587980"/>
            <a:ext cx="6222874" cy="35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 Trac Solutions</a:t>
            </a:r>
            <a:endParaRPr/>
          </a:p>
        </p:txBody>
      </p:sp>
      <p:sp>
        <p:nvSpPr>
          <p:cNvPr id="184" name="Google Shape;184;p27"/>
          <p:cNvSpPr txBox="1"/>
          <p:nvPr/>
        </p:nvSpPr>
        <p:spPr>
          <a:xfrm>
            <a:off x="11898942" y="4162247"/>
            <a:ext cx="54270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1">
                <a:latin typeface="Raleway"/>
                <a:ea typeface="Raleway"/>
                <a:cs typeface="Raleway"/>
                <a:sym typeface="Raleway"/>
              </a:rPr>
              <a:t>Deputy Manager</a:t>
            </a:r>
            <a:endParaRPr/>
          </a:p>
        </p:txBody>
      </p:sp>
      <p:pic>
        <p:nvPicPr>
          <p:cNvPr id="185" name="Google Shape;185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02475" y="5352175"/>
            <a:ext cx="4223500" cy="159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0" name="Google Shape;190;p28"/>
          <p:cNvGrpSpPr/>
          <p:nvPr/>
        </p:nvGrpSpPr>
        <p:grpSpPr>
          <a:xfrm>
            <a:off x="0" y="-216993"/>
            <a:ext cx="6108832" cy="10504504"/>
            <a:chOff x="0" y="-57150"/>
            <a:chExt cx="1608900" cy="2766600"/>
          </a:xfrm>
        </p:grpSpPr>
        <p:sp>
          <p:nvSpPr>
            <p:cNvPr id="191" name="Google Shape;191;p28"/>
            <p:cNvSpPr/>
            <p:nvPr/>
          </p:nvSpPr>
          <p:spPr>
            <a:xfrm>
              <a:off x="0" y="0"/>
              <a:ext cx="1608878" cy="2709333"/>
            </a:xfrm>
            <a:custGeom>
              <a:rect b="b" l="l" r="r" t="t"/>
              <a:pathLst>
                <a:path extrusionOk="0" h="2709333" w="1608878">
                  <a:moveTo>
                    <a:pt x="0" y="0"/>
                  </a:moveTo>
                  <a:lnTo>
                    <a:pt x="1608878" y="0"/>
                  </a:lnTo>
                  <a:lnTo>
                    <a:pt x="16088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AB6EB"/>
            </a:solidFill>
            <a:ln>
              <a:noFill/>
            </a:ln>
          </p:spPr>
        </p:sp>
        <p:sp>
          <p:nvSpPr>
            <p:cNvPr id="192" name="Google Shape;192;p28"/>
            <p:cNvSpPr txBox="1"/>
            <p:nvPr/>
          </p:nvSpPr>
          <p:spPr>
            <a:xfrm>
              <a:off x="0" y="-57150"/>
              <a:ext cx="1608900" cy="27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28"/>
          <p:cNvGrpSpPr/>
          <p:nvPr/>
        </p:nvGrpSpPr>
        <p:grpSpPr>
          <a:xfrm>
            <a:off x="696290" y="3920191"/>
            <a:ext cx="4913287" cy="2410470"/>
            <a:chOff x="0" y="-9525"/>
            <a:chExt cx="1294026" cy="634852"/>
          </a:xfrm>
        </p:grpSpPr>
        <p:sp>
          <p:nvSpPr>
            <p:cNvPr id="194" name="Google Shape;194;p28"/>
            <p:cNvSpPr/>
            <p:nvPr/>
          </p:nvSpPr>
          <p:spPr>
            <a:xfrm>
              <a:off x="0" y="0"/>
              <a:ext cx="1294026" cy="625327"/>
            </a:xfrm>
            <a:custGeom>
              <a:rect b="b" l="l" r="r" t="t"/>
              <a:pathLst>
                <a:path extrusionOk="0" h="625327" w="1294026">
                  <a:moveTo>
                    <a:pt x="0" y="0"/>
                  </a:moveTo>
                  <a:lnTo>
                    <a:pt x="1294026" y="0"/>
                  </a:lnTo>
                  <a:lnTo>
                    <a:pt x="1294026" y="625327"/>
                  </a:lnTo>
                  <a:lnTo>
                    <a:pt x="0" y="6253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95" name="Google Shape;195;p28"/>
            <p:cNvSpPr txBox="1"/>
            <p:nvPr/>
          </p:nvSpPr>
          <p:spPr>
            <a:xfrm>
              <a:off x="0" y="-9525"/>
              <a:ext cx="1293900" cy="6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5600" u="none" cap="none" strike="noStrike">
                  <a:solidFill>
                    <a:srgbClr val="000000"/>
                  </a:solidFill>
                  <a:latin typeface="Raleway"/>
                  <a:ea typeface="Raleway"/>
                  <a:cs typeface="Raleway"/>
                  <a:sym typeface="Raleway"/>
                </a:rPr>
                <a:t>Initial Challenges</a:t>
              </a:r>
              <a:endParaRPr/>
            </a:p>
          </p:txBody>
        </p:sp>
      </p:grpSp>
      <p:sp>
        <p:nvSpPr>
          <p:cNvPr id="196" name="Google Shape;196;p28"/>
          <p:cNvSpPr txBox="1"/>
          <p:nvPr/>
        </p:nvSpPr>
        <p:spPr>
          <a:xfrm>
            <a:off x="6464653" y="2549774"/>
            <a:ext cx="11350800" cy="6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1. Finding accommodation</a:t>
            </a:r>
            <a:endParaRPr/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2. Transportation: The roads were too polluted.</a:t>
            </a:r>
            <a:endParaRPr/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3. Fitting into company culture: Understanding the norms, working style, and expectations.</a:t>
            </a:r>
            <a:endParaRPr/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4. Proving your skills: Interns are sometimes assumed to only have basic skills, so I had to demonstrate more advanced skills.</a:t>
            </a:r>
            <a:endParaRPr/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17226736" y="9534525"/>
            <a:ext cx="241500" cy="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4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oogle Shape;202;p29"/>
          <p:cNvGrpSpPr/>
          <p:nvPr/>
        </p:nvGrpSpPr>
        <p:grpSpPr>
          <a:xfrm>
            <a:off x="11473500" y="2476350"/>
            <a:ext cx="5785834" cy="5125146"/>
            <a:chOff x="0" y="-57150"/>
            <a:chExt cx="1523831" cy="1622806"/>
          </a:xfrm>
        </p:grpSpPr>
        <p:sp>
          <p:nvSpPr>
            <p:cNvPr id="203" name="Google Shape;203;p29"/>
            <p:cNvSpPr/>
            <p:nvPr/>
          </p:nvSpPr>
          <p:spPr>
            <a:xfrm>
              <a:off x="0" y="0"/>
              <a:ext cx="1523831" cy="1565656"/>
            </a:xfrm>
            <a:custGeom>
              <a:rect b="b" l="l" r="r" t="t"/>
              <a:pathLst>
                <a:path extrusionOk="0" h="1565656" w="1523831">
                  <a:moveTo>
                    <a:pt x="0" y="0"/>
                  </a:moveTo>
                  <a:lnTo>
                    <a:pt x="1523831" y="0"/>
                  </a:lnTo>
                  <a:lnTo>
                    <a:pt x="1523831" y="1565656"/>
                  </a:lnTo>
                  <a:lnTo>
                    <a:pt x="0" y="1565656"/>
                  </a:lnTo>
                  <a:close/>
                </a:path>
              </a:pathLst>
            </a:custGeom>
            <a:solidFill>
              <a:srgbClr val="FFFFFF"/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04" name="Google Shape;204;p29"/>
            <p:cNvSpPr txBox="1"/>
            <p:nvPr/>
          </p:nvSpPr>
          <p:spPr>
            <a:xfrm>
              <a:off x="0" y="-57150"/>
              <a:ext cx="1523700" cy="16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5" name="Google Shape;205;p29"/>
          <p:cNvGrpSpPr/>
          <p:nvPr/>
        </p:nvGrpSpPr>
        <p:grpSpPr>
          <a:xfrm>
            <a:off x="11563597" y="4910580"/>
            <a:ext cx="5605618" cy="2617583"/>
            <a:chOff x="0" y="-57150"/>
            <a:chExt cx="1476367" cy="689400"/>
          </a:xfrm>
        </p:grpSpPr>
        <p:sp>
          <p:nvSpPr>
            <p:cNvPr id="206" name="Google Shape;206;p29"/>
            <p:cNvSpPr/>
            <p:nvPr/>
          </p:nvSpPr>
          <p:spPr>
            <a:xfrm>
              <a:off x="0" y="0"/>
              <a:ext cx="1476367" cy="632206"/>
            </a:xfrm>
            <a:custGeom>
              <a:rect b="b" l="l" r="r" t="t"/>
              <a:pathLst>
                <a:path extrusionOk="0" h="632206" w="1476367">
                  <a:moveTo>
                    <a:pt x="0" y="0"/>
                  </a:moveTo>
                  <a:lnTo>
                    <a:pt x="1476367" y="0"/>
                  </a:lnTo>
                  <a:lnTo>
                    <a:pt x="1476367" y="632206"/>
                  </a:lnTo>
                  <a:lnTo>
                    <a:pt x="0" y="632206"/>
                  </a:lnTo>
                  <a:close/>
                </a:path>
              </a:pathLst>
            </a:custGeom>
            <a:solidFill>
              <a:srgbClr val="8AB6EB"/>
            </a:solidFill>
            <a:ln>
              <a:noFill/>
            </a:ln>
          </p:spPr>
        </p:sp>
        <p:sp>
          <p:nvSpPr>
            <p:cNvPr id="207" name="Google Shape;207;p29"/>
            <p:cNvSpPr txBox="1"/>
            <p:nvPr/>
          </p:nvSpPr>
          <p:spPr>
            <a:xfrm>
              <a:off x="0" y="-57150"/>
              <a:ext cx="1476300" cy="6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" name="Google Shape;208;p29"/>
          <p:cNvSpPr txBox="1"/>
          <p:nvPr/>
        </p:nvSpPr>
        <p:spPr>
          <a:xfrm>
            <a:off x="12005607" y="5567174"/>
            <a:ext cx="4721700" cy="15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5">
                <a:latin typeface="Raleway"/>
                <a:ea typeface="Raleway"/>
                <a:cs typeface="Raleway"/>
                <a:sym typeface="Raleway"/>
              </a:rPr>
              <a:t>A command-line tool for managing Firebase projects locally</a:t>
            </a:r>
            <a:endParaRPr/>
          </a:p>
        </p:txBody>
      </p:sp>
      <p:sp>
        <p:nvSpPr>
          <p:cNvPr id="209" name="Google Shape;209;p29"/>
          <p:cNvSpPr txBox="1"/>
          <p:nvPr/>
        </p:nvSpPr>
        <p:spPr>
          <a:xfrm>
            <a:off x="12133444" y="3367760"/>
            <a:ext cx="4465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latin typeface="Raleway"/>
                <a:ea typeface="Raleway"/>
                <a:cs typeface="Raleway"/>
                <a:sym typeface="Raleway"/>
              </a:rPr>
              <a:t>Taskify</a:t>
            </a:r>
            <a:endParaRPr/>
          </a:p>
        </p:txBody>
      </p:sp>
      <p:sp>
        <p:nvSpPr>
          <p:cNvPr id="210" name="Google Shape;210;p29"/>
          <p:cNvSpPr txBox="1"/>
          <p:nvPr/>
        </p:nvSpPr>
        <p:spPr>
          <a:xfrm>
            <a:off x="12745028" y="800735"/>
            <a:ext cx="451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Raleway"/>
                <a:ea typeface="Raleway"/>
                <a:cs typeface="Raleway"/>
                <a:sym typeface="Raleway"/>
              </a:rPr>
              <a:t>Practice</a:t>
            </a:r>
            <a:r>
              <a:rPr b="0" i="0" lang="en-US" sz="23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Project</a:t>
            </a:r>
            <a:endParaRPr/>
          </a:p>
        </p:txBody>
      </p:sp>
      <p:pic>
        <p:nvPicPr>
          <p:cNvPr id="211" name="Google Shape;211;p29"/>
          <p:cNvPicPr preferRelativeResize="0"/>
          <p:nvPr/>
        </p:nvPicPr>
        <p:blipFill rotWithShape="1">
          <a:blip r:embed="rId3">
            <a:alphaModFix/>
          </a:blip>
          <a:srcRect b="16261" l="0" r="43921" t="0"/>
          <a:stretch/>
        </p:blipFill>
        <p:spPr>
          <a:xfrm>
            <a:off x="434250" y="2685438"/>
            <a:ext cx="10334426" cy="491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30"/>
          <p:cNvGrpSpPr/>
          <p:nvPr/>
        </p:nvGrpSpPr>
        <p:grpSpPr>
          <a:xfrm>
            <a:off x="11473500" y="2945175"/>
            <a:ext cx="5785834" cy="5314365"/>
            <a:chOff x="0" y="-57150"/>
            <a:chExt cx="1523831" cy="1622806"/>
          </a:xfrm>
        </p:grpSpPr>
        <p:sp>
          <p:nvSpPr>
            <p:cNvPr id="217" name="Google Shape;217;p30"/>
            <p:cNvSpPr/>
            <p:nvPr/>
          </p:nvSpPr>
          <p:spPr>
            <a:xfrm>
              <a:off x="0" y="0"/>
              <a:ext cx="1523831" cy="1565656"/>
            </a:xfrm>
            <a:custGeom>
              <a:rect b="b" l="l" r="r" t="t"/>
              <a:pathLst>
                <a:path extrusionOk="0" h="1565656" w="1523831">
                  <a:moveTo>
                    <a:pt x="0" y="0"/>
                  </a:moveTo>
                  <a:lnTo>
                    <a:pt x="1523831" y="0"/>
                  </a:lnTo>
                  <a:lnTo>
                    <a:pt x="1523831" y="1565656"/>
                  </a:lnTo>
                  <a:lnTo>
                    <a:pt x="0" y="1565656"/>
                  </a:lnTo>
                  <a:close/>
                </a:path>
              </a:pathLst>
            </a:custGeom>
            <a:solidFill>
              <a:srgbClr val="FFFFFF"/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18" name="Google Shape;218;p30"/>
            <p:cNvSpPr txBox="1"/>
            <p:nvPr/>
          </p:nvSpPr>
          <p:spPr>
            <a:xfrm>
              <a:off x="0" y="-57150"/>
              <a:ext cx="1523700" cy="16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9" name="Google Shape;219;p30"/>
          <p:cNvGrpSpPr/>
          <p:nvPr/>
        </p:nvGrpSpPr>
        <p:grpSpPr>
          <a:xfrm>
            <a:off x="11563612" y="5591679"/>
            <a:ext cx="5605618" cy="2617583"/>
            <a:chOff x="0" y="-57150"/>
            <a:chExt cx="1476367" cy="689400"/>
          </a:xfrm>
        </p:grpSpPr>
        <p:sp>
          <p:nvSpPr>
            <p:cNvPr id="220" name="Google Shape;220;p30"/>
            <p:cNvSpPr/>
            <p:nvPr/>
          </p:nvSpPr>
          <p:spPr>
            <a:xfrm>
              <a:off x="0" y="0"/>
              <a:ext cx="1476367" cy="632206"/>
            </a:xfrm>
            <a:custGeom>
              <a:rect b="b" l="l" r="r" t="t"/>
              <a:pathLst>
                <a:path extrusionOk="0" h="632206" w="1476367">
                  <a:moveTo>
                    <a:pt x="0" y="0"/>
                  </a:moveTo>
                  <a:lnTo>
                    <a:pt x="1476367" y="0"/>
                  </a:lnTo>
                  <a:lnTo>
                    <a:pt x="1476367" y="632206"/>
                  </a:lnTo>
                  <a:lnTo>
                    <a:pt x="0" y="632206"/>
                  </a:lnTo>
                  <a:close/>
                </a:path>
              </a:pathLst>
            </a:custGeom>
            <a:solidFill>
              <a:srgbClr val="8AB6EB"/>
            </a:solidFill>
            <a:ln>
              <a:noFill/>
            </a:ln>
          </p:spPr>
        </p:sp>
        <p:sp>
          <p:nvSpPr>
            <p:cNvPr id="221" name="Google Shape;221;p30"/>
            <p:cNvSpPr txBox="1"/>
            <p:nvPr/>
          </p:nvSpPr>
          <p:spPr>
            <a:xfrm>
              <a:off x="0" y="-57150"/>
              <a:ext cx="1476300" cy="6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2" name="Google Shape;222;p30"/>
          <p:cNvSpPr txBox="1"/>
          <p:nvPr/>
        </p:nvSpPr>
        <p:spPr>
          <a:xfrm>
            <a:off x="12005622" y="6248273"/>
            <a:ext cx="47217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5">
                <a:latin typeface="Raleway"/>
                <a:ea typeface="Raleway"/>
                <a:cs typeface="Raleway"/>
                <a:sym typeface="Raleway"/>
              </a:rPr>
              <a:t>A sandbox for implementing Firebase Cloud Messaging</a:t>
            </a:r>
            <a:endParaRPr/>
          </a:p>
        </p:txBody>
      </p:sp>
      <p:sp>
        <p:nvSpPr>
          <p:cNvPr id="223" name="Google Shape;223;p30"/>
          <p:cNvSpPr txBox="1"/>
          <p:nvPr/>
        </p:nvSpPr>
        <p:spPr>
          <a:xfrm>
            <a:off x="11563600" y="3414725"/>
            <a:ext cx="5605500" cy="2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9">
                <a:latin typeface="Raleway"/>
                <a:ea typeface="Raleway"/>
                <a:cs typeface="Raleway"/>
                <a:sym typeface="Raleway"/>
              </a:rPr>
              <a:t>FCM Playground</a:t>
            </a:r>
            <a:endParaRPr sz="500"/>
          </a:p>
        </p:txBody>
      </p:sp>
      <p:sp>
        <p:nvSpPr>
          <p:cNvPr id="224" name="Google Shape;224;p30"/>
          <p:cNvSpPr txBox="1"/>
          <p:nvPr/>
        </p:nvSpPr>
        <p:spPr>
          <a:xfrm>
            <a:off x="12745028" y="800735"/>
            <a:ext cx="451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latin typeface="Raleway"/>
                <a:ea typeface="Raleway"/>
                <a:cs typeface="Raleway"/>
                <a:sym typeface="Raleway"/>
              </a:rPr>
              <a:t>Practice</a:t>
            </a:r>
            <a:r>
              <a:rPr b="0" i="0" lang="en-US" sz="23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Project</a:t>
            </a:r>
            <a:endParaRPr/>
          </a:p>
        </p:txBody>
      </p:sp>
      <p:pic>
        <p:nvPicPr>
          <p:cNvPr id="225" name="Google Shape;225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751453"/>
            <a:ext cx="11168704" cy="55080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1"/>
          <p:cNvPicPr preferRelativeResize="0"/>
          <p:nvPr/>
        </p:nvPicPr>
        <p:blipFill rotWithShape="1">
          <a:blip r:embed="rId3">
            <a:alphaModFix/>
          </a:blip>
          <a:srcRect b="9049" l="5133" r="5124" t="0"/>
          <a:stretch/>
        </p:blipFill>
        <p:spPr>
          <a:xfrm>
            <a:off x="350950" y="541225"/>
            <a:ext cx="10970150" cy="93559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31"/>
          <p:cNvGrpSpPr/>
          <p:nvPr/>
        </p:nvGrpSpPr>
        <p:grpSpPr>
          <a:xfrm>
            <a:off x="11473506" y="2476341"/>
            <a:ext cx="5785798" cy="6161590"/>
            <a:chOff x="0" y="-57150"/>
            <a:chExt cx="1523831" cy="1622806"/>
          </a:xfrm>
        </p:grpSpPr>
        <p:sp>
          <p:nvSpPr>
            <p:cNvPr id="232" name="Google Shape;232;p31"/>
            <p:cNvSpPr/>
            <p:nvPr/>
          </p:nvSpPr>
          <p:spPr>
            <a:xfrm>
              <a:off x="0" y="0"/>
              <a:ext cx="1523831" cy="1565656"/>
            </a:xfrm>
            <a:custGeom>
              <a:rect b="b" l="l" r="r" t="t"/>
              <a:pathLst>
                <a:path extrusionOk="0" h="1565656" w="1523831">
                  <a:moveTo>
                    <a:pt x="0" y="0"/>
                  </a:moveTo>
                  <a:lnTo>
                    <a:pt x="1523831" y="0"/>
                  </a:lnTo>
                  <a:lnTo>
                    <a:pt x="1523831" y="1565656"/>
                  </a:lnTo>
                  <a:lnTo>
                    <a:pt x="0" y="1565656"/>
                  </a:lnTo>
                  <a:close/>
                </a:path>
              </a:pathLst>
            </a:custGeom>
            <a:solidFill>
              <a:srgbClr val="FFFFFF"/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33" name="Google Shape;233;p31"/>
            <p:cNvSpPr txBox="1"/>
            <p:nvPr/>
          </p:nvSpPr>
          <p:spPr>
            <a:xfrm>
              <a:off x="0" y="-57150"/>
              <a:ext cx="1523830" cy="16228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4" name="Google Shape;234;p31"/>
          <p:cNvGrpSpPr/>
          <p:nvPr/>
        </p:nvGrpSpPr>
        <p:grpSpPr>
          <a:xfrm>
            <a:off x="11563612" y="5920489"/>
            <a:ext cx="5605582" cy="2617397"/>
            <a:chOff x="0" y="-57150"/>
            <a:chExt cx="1476367" cy="689356"/>
          </a:xfrm>
        </p:grpSpPr>
        <p:sp>
          <p:nvSpPr>
            <p:cNvPr id="235" name="Google Shape;235;p31"/>
            <p:cNvSpPr/>
            <p:nvPr/>
          </p:nvSpPr>
          <p:spPr>
            <a:xfrm>
              <a:off x="0" y="0"/>
              <a:ext cx="1476367" cy="632206"/>
            </a:xfrm>
            <a:custGeom>
              <a:rect b="b" l="l" r="r" t="t"/>
              <a:pathLst>
                <a:path extrusionOk="0" h="632206" w="1476367">
                  <a:moveTo>
                    <a:pt x="0" y="0"/>
                  </a:moveTo>
                  <a:lnTo>
                    <a:pt x="1476367" y="0"/>
                  </a:lnTo>
                  <a:lnTo>
                    <a:pt x="1476367" y="632206"/>
                  </a:lnTo>
                  <a:lnTo>
                    <a:pt x="0" y="632206"/>
                  </a:lnTo>
                  <a:close/>
                </a:path>
              </a:pathLst>
            </a:custGeom>
            <a:solidFill>
              <a:srgbClr val="8AB6EB"/>
            </a:solidFill>
            <a:ln>
              <a:noFill/>
            </a:ln>
          </p:spPr>
        </p:sp>
        <p:sp>
          <p:nvSpPr>
            <p:cNvPr id="236" name="Google Shape;236;p31"/>
            <p:cNvSpPr txBox="1"/>
            <p:nvPr/>
          </p:nvSpPr>
          <p:spPr>
            <a:xfrm>
              <a:off x="0" y="-57150"/>
              <a:ext cx="1476367" cy="6893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7" name="Google Shape;237;p31"/>
          <p:cNvSpPr txBox="1"/>
          <p:nvPr/>
        </p:nvSpPr>
        <p:spPr>
          <a:xfrm>
            <a:off x="12005622" y="6577081"/>
            <a:ext cx="4721561" cy="14545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35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GitHub analytics system for tracking internal team performance</a:t>
            </a:r>
            <a:endParaRPr/>
          </a:p>
        </p:txBody>
      </p:sp>
      <p:sp>
        <p:nvSpPr>
          <p:cNvPr id="238" name="Google Shape;238;p31"/>
          <p:cNvSpPr txBox="1"/>
          <p:nvPr/>
        </p:nvSpPr>
        <p:spPr>
          <a:xfrm>
            <a:off x="12133444" y="3414733"/>
            <a:ext cx="4465918" cy="2124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B-Trac</a:t>
            </a:r>
            <a:endParaRPr/>
          </a:p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CommitQ</a:t>
            </a:r>
            <a:endParaRPr/>
          </a:p>
        </p:txBody>
      </p:sp>
      <p:sp>
        <p:nvSpPr>
          <p:cNvPr id="239" name="Google Shape;239;p31"/>
          <p:cNvSpPr txBox="1"/>
          <p:nvPr/>
        </p:nvSpPr>
        <p:spPr>
          <a:xfrm>
            <a:off x="12745028" y="800735"/>
            <a:ext cx="4514272" cy="398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Assigned Project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" name="Google Shape;244;p32"/>
          <p:cNvGrpSpPr/>
          <p:nvPr/>
        </p:nvGrpSpPr>
        <p:grpSpPr>
          <a:xfrm>
            <a:off x="11473506" y="2476339"/>
            <a:ext cx="5785834" cy="6161632"/>
            <a:chOff x="0" y="-57150"/>
            <a:chExt cx="1523831" cy="1622806"/>
          </a:xfrm>
        </p:grpSpPr>
        <p:sp>
          <p:nvSpPr>
            <p:cNvPr id="245" name="Google Shape;245;p32"/>
            <p:cNvSpPr/>
            <p:nvPr/>
          </p:nvSpPr>
          <p:spPr>
            <a:xfrm>
              <a:off x="0" y="0"/>
              <a:ext cx="1523831" cy="1565656"/>
            </a:xfrm>
            <a:custGeom>
              <a:rect b="b" l="l" r="r" t="t"/>
              <a:pathLst>
                <a:path extrusionOk="0" h="1565656" w="1523831">
                  <a:moveTo>
                    <a:pt x="0" y="0"/>
                  </a:moveTo>
                  <a:lnTo>
                    <a:pt x="1523831" y="0"/>
                  </a:lnTo>
                  <a:lnTo>
                    <a:pt x="1523831" y="1565656"/>
                  </a:lnTo>
                  <a:lnTo>
                    <a:pt x="0" y="1565656"/>
                  </a:lnTo>
                  <a:close/>
                </a:path>
              </a:pathLst>
            </a:custGeom>
            <a:solidFill>
              <a:srgbClr val="FFFFFF"/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246" name="Google Shape;246;p32"/>
            <p:cNvSpPr txBox="1"/>
            <p:nvPr/>
          </p:nvSpPr>
          <p:spPr>
            <a:xfrm>
              <a:off x="0" y="-57150"/>
              <a:ext cx="1523700" cy="16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32"/>
          <p:cNvGrpSpPr/>
          <p:nvPr/>
        </p:nvGrpSpPr>
        <p:grpSpPr>
          <a:xfrm>
            <a:off x="11563612" y="5920487"/>
            <a:ext cx="5605618" cy="2617583"/>
            <a:chOff x="0" y="-57150"/>
            <a:chExt cx="1476367" cy="689400"/>
          </a:xfrm>
        </p:grpSpPr>
        <p:sp>
          <p:nvSpPr>
            <p:cNvPr id="248" name="Google Shape;248;p32"/>
            <p:cNvSpPr/>
            <p:nvPr/>
          </p:nvSpPr>
          <p:spPr>
            <a:xfrm>
              <a:off x="0" y="0"/>
              <a:ext cx="1476367" cy="632206"/>
            </a:xfrm>
            <a:custGeom>
              <a:rect b="b" l="l" r="r" t="t"/>
              <a:pathLst>
                <a:path extrusionOk="0" h="632206" w="1476367">
                  <a:moveTo>
                    <a:pt x="0" y="0"/>
                  </a:moveTo>
                  <a:lnTo>
                    <a:pt x="1476367" y="0"/>
                  </a:lnTo>
                  <a:lnTo>
                    <a:pt x="1476367" y="632206"/>
                  </a:lnTo>
                  <a:lnTo>
                    <a:pt x="0" y="632206"/>
                  </a:lnTo>
                  <a:close/>
                </a:path>
              </a:pathLst>
            </a:custGeom>
            <a:solidFill>
              <a:srgbClr val="8AB6EB"/>
            </a:solidFill>
            <a:ln>
              <a:noFill/>
            </a:ln>
          </p:spPr>
        </p:sp>
        <p:sp>
          <p:nvSpPr>
            <p:cNvPr id="249" name="Google Shape;249;p32"/>
            <p:cNvSpPr txBox="1"/>
            <p:nvPr/>
          </p:nvSpPr>
          <p:spPr>
            <a:xfrm>
              <a:off x="0" y="-57150"/>
              <a:ext cx="1476300" cy="68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32"/>
          <p:cNvSpPr txBox="1"/>
          <p:nvPr/>
        </p:nvSpPr>
        <p:spPr>
          <a:xfrm>
            <a:off x="12005622" y="6577081"/>
            <a:ext cx="4721700" cy="15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35">
                <a:latin typeface="Raleway"/>
                <a:ea typeface="Raleway"/>
                <a:cs typeface="Raleway"/>
                <a:sym typeface="Raleway"/>
              </a:rPr>
              <a:t>Real-time earthquake alert system for all the application </a:t>
            </a:r>
            <a:r>
              <a:rPr lang="en-US" sz="2735">
                <a:latin typeface="Raleway"/>
                <a:ea typeface="Raleway"/>
                <a:cs typeface="Raleway"/>
                <a:sym typeface="Raleway"/>
              </a:rPr>
              <a:t>within the organization</a:t>
            </a:r>
            <a:endParaRPr/>
          </a:p>
        </p:txBody>
      </p:sp>
      <p:sp>
        <p:nvSpPr>
          <p:cNvPr id="251" name="Google Shape;251;p32"/>
          <p:cNvSpPr txBox="1"/>
          <p:nvPr/>
        </p:nvSpPr>
        <p:spPr>
          <a:xfrm>
            <a:off x="11563600" y="3414725"/>
            <a:ext cx="5605500" cy="20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99">
                <a:latin typeface="Raleway"/>
                <a:ea typeface="Raleway"/>
                <a:cs typeface="Raleway"/>
                <a:sym typeface="Raleway"/>
              </a:rPr>
              <a:t>BTSL Disaster Notification</a:t>
            </a:r>
            <a:endParaRPr sz="500"/>
          </a:p>
        </p:txBody>
      </p:sp>
      <p:sp>
        <p:nvSpPr>
          <p:cNvPr id="252" name="Google Shape;252;p32"/>
          <p:cNvSpPr txBox="1"/>
          <p:nvPr/>
        </p:nvSpPr>
        <p:spPr>
          <a:xfrm>
            <a:off x="12745028" y="800735"/>
            <a:ext cx="45144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Assigned Project</a:t>
            </a:r>
            <a:endParaRPr/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 b="10746" l="0" r="0" t="0"/>
          <a:stretch/>
        </p:blipFill>
        <p:spPr>
          <a:xfrm>
            <a:off x="1065575" y="2570299"/>
            <a:ext cx="9954199" cy="616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3"/>
          <p:cNvSpPr/>
          <p:nvPr/>
        </p:nvSpPr>
        <p:spPr>
          <a:xfrm>
            <a:off x="9245913" y="1629598"/>
            <a:ext cx="3324708" cy="332133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3"/>
          <p:cNvSpPr/>
          <p:nvPr/>
        </p:nvSpPr>
        <p:spPr>
          <a:xfrm>
            <a:off x="13161171" y="1629598"/>
            <a:ext cx="3324708" cy="332133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"/>
          <p:cNvSpPr/>
          <p:nvPr/>
        </p:nvSpPr>
        <p:spPr>
          <a:xfrm>
            <a:off x="13161171" y="5379553"/>
            <a:ext cx="3324708" cy="332133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3"/>
          <p:cNvSpPr/>
          <p:nvPr/>
        </p:nvSpPr>
        <p:spPr>
          <a:xfrm>
            <a:off x="9245913" y="5393316"/>
            <a:ext cx="3324708" cy="332133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13342146" y="1789408"/>
            <a:ext cx="2925611" cy="2925611"/>
          </a:xfrm>
          <a:custGeom>
            <a:rect b="b" l="l" r="r" t="t"/>
            <a:pathLst>
              <a:path extrusionOk="0" h="2925611" w="2925611">
                <a:moveTo>
                  <a:pt x="0" y="0"/>
                </a:moveTo>
                <a:lnTo>
                  <a:pt x="2925611" y="0"/>
                </a:lnTo>
                <a:lnTo>
                  <a:pt x="2925611" y="2925610"/>
                </a:lnTo>
                <a:lnTo>
                  <a:pt x="0" y="2925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3" name="Google Shape;263;p33"/>
          <p:cNvSpPr/>
          <p:nvPr/>
        </p:nvSpPr>
        <p:spPr>
          <a:xfrm>
            <a:off x="9453057" y="1846508"/>
            <a:ext cx="2925611" cy="2925611"/>
          </a:xfrm>
          <a:custGeom>
            <a:rect b="b" l="l" r="r" t="t"/>
            <a:pathLst>
              <a:path extrusionOk="0" h="2925611" w="2925611">
                <a:moveTo>
                  <a:pt x="0" y="0"/>
                </a:moveTo>
                <a:lnTo>
                  <a:pt x="2925611" y="0"/>
                </a:lnTo>
                <a:lnTo>
                  <a:pt x="2925611" y="2925610"/>
                </a:lnTo>
                <a:lnTo>
                  <a:pt x="0" y="292561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4" name="Google Shape;264;p33"/>
          <p:cNvSpPr txBox="1"/>
          <p:nvPr/>
        </p:nvSpPr>
        <p:spPr>
          <a:xfrm>
            <a:off x="1599747" y="2485315"/>
            <a:ext cx="705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New Skills Learned</a:t>
            </a:r>
            <a:endParaRPr/>
          </a:p>
        </p:txBody>
      </p:sp>
      <p:sp>
        <p:nvSpPr>
          <p:cNvPr id="265" name="Google Shape;265;p33"/>
          <p:cNvSpPr txBox="1"/>
          <p:nvPr/>
        </p:nvSpPr>
        <p:spPr>
          <a:xfrm>
            <a:off x="1599747" y="4330843"/>
            <a:ext cx="6222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Improved code quality with strong typing and error prevention.</a:t>
            </a:r>
            <a:endParaRPr/>
          </a:p>
        </p:txBody>
      </p:sp>
      <p:sp>
        <p:nvSpPr>
          <p:cNvPr id="266" name="Google Shape;266;p33"/>
          <p:cNvSpPr txBox="1"/>
          <p:nvPr/>
        </p:nvSpPr>
        <p:spPr>
          <a:xfrm>
            <a:off x="1599747" y="5705902"/>
            <a:ext cx="6222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Built fast, scalable, and SEO-friendly web applications.</a:t>
            </a:r>
            <a:endParaRPr/>
          </a:p>
        </p:txBody>
      </p:sp>
      <p:sp>
        <p:nvSpPr>
          <p:cNvPr id="267" name="Google Shape;267;p33"/>
          <p:cNvSpPr txBox="1"/>
          <p:nvPr/>
        </p:nvSpPr>
        <p:spPr>
          <a:xfrm>
            <a:off x="1599747" y="7080960"/>
            <a:ext cx="62229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Learned to structure and query data efficiently using GitHub’s GraphQL API.</a:t>
            </a:r>
            <a:endParaRPr/>
          </a:p>
        </p:txBody>
      </p:sp>
      <p:sp>
        <p:nvSpPr>
          <p:cNvPr id="268" name="Google Shape;268;p33"/>
          <p:cNvSpPr txBox="1"/>
          <p:nvPr/>
        </p:nvSpPr>
        <p:spPr>
          <a:xfrm>
            <a:off x="1599747" y="3905110"/>
            <a:ext cx="3262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1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TypeScript</a:t>
            </a:r>
            <a:endParaRPr/>
          </a:p>
        </p:txBody>
      </p:sp>
      <p:sp>
        <p:nvSpPr>
          <p:cNvPr id="269" name="Google Shape;269;p33"/>
          <p:cNvSpPr txBox="1"/>
          <p:nvPr/>
        </p:nvSpPr>
        <p:spPr>
          <a:xfrm>
            <a:off x="1599747" y="5280168"/>
            <a:ext cx="3262800" cy="3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1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Next.js</a:t>
            </a:r>
            <a:endParaRPr/>
          </a:p>
        </p:txBody>
      </p:sp>
      <p:sp>
        <p:nvSpPr>
          <p:cNvPr id="270" name="Google Shape;270;p33"/>
          <p:cNvSpPr txBox="1"/>
          <p:nvPr/>
        </p:nvSpPr>
        <p:spPr>
          <a:xfrm>
            <a:off x="1599747" y="6655227"/>
            <a:ext cx="3262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1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GraphQL API</a:t>
            </a:r>
            <a:endParaRPr/>
          </a:p>
        </p:txBody>
      </p:sp>
      <p:sp>
        <p:nvSpPr>
          <p:cNvPr id="271" name="Google Shape;271;p33"/>
          <p:cNvSpPr txBox="1"/>
          <p:nvPr/>
        </p:nvSpPr>
        <p:spPr>
          <a:xfrm>
            <a:off x="1609272" y="8341719"/>
            <a:ext cx="622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aleway"/>
                <a:ea typeface="Raleway"/>
                <a:cs typeface="Raleway"/>
                <a:sym typeface="Raleway"/>
              </a:rPr>
              <a:t>Implemented authenticated queries and pagination to interact with GitHub repositories and user data.</a:t>
            </a:r>
            <a:endParaRPr/>
          </a:p>
        </p:txBody>
      </p:sp>
      <p:sp>
        <p:nvSpPr>
          <p:cNvPr id="272" name="Google Shape;272;p33"/>
          <p:cNvSpPr txBox="1"/>
          <p:nvPr/>
        </p:nvSpPr>
        <p:spPr>
          <a:xfrm>
            <a:off x="1609272" y="7915985"/>
            <a:ext cx="3262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GitHub GraphQL API</a:t>
            </a:r>
            <a:endParaRPr b="1" sz="2301"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273" name="Google Shape;273;p33" title="graphql-svgrepo-co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02625" y="5726254"/>
            <a:ext cx="2925600" cy="2925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733263" y="6098775"/>
            <a:ext cx="2180515" cy="21805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4"/>
          <p:cNvSpPr/>
          <p:nvPr/>
        </p:nvSpPr>
        <p:spPr>
          <a:xfrm>
            <a:off x="9245913" y="1629598"/>
            <a:ext cx="3324600" cy="33213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4"/>
          <p:cNvSpPr/>
          <p:nvPr/>
        </p:nvSpPr>
        <p:spPr>
          <a:xfrm>
            <a:off x="13161171" y="1629598"/>
            <a:ext cx="3324600" cy="33213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"/>
          <p:cNvSpPr/>
          <p:nvPr/>
        </p:nvSpPr>
        <p:spPr>
          <a:xfrm>
            <a:off x="13161171" y="5379553"/>
            <a:ext cx="3324600" cy="33213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4"/>
          <p:cNvSpPr/>
          <p:nvPr/>
        </p:nvSpPr>
        <p:spPr>
          <a:xfrm>
            <a:off x="9245913" y="5393316"/>
            <a:ext cx="3324600" cy="3321300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4"/>
          <p:cNvSpPr txBox="1"/>
          <p:nvPr/>
        </p:nvSpPr>
        <p:spPr>
          <a:xfrm>
            <a:off x="1599747" y="2485315"/>
            <a:ext cx="7051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New Skills Learned</a:t>
            </a:r>
            <a:endParaRPr b="1" sz="6000"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84" name="Google Shape;284;p34"/>
          <p:cNvSpPr txBox="1"/>
          <p:nvPr/>
        </p:nvSpPr>
        <p:spPr>
          <a:xfrm>
            <a:off x="1599747" y="4330843"/>
            <a:ext cx="622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aleway"/>
                <a:ea typeface="Raleway"/>
                <a:cs typeface="Raleway"/>
                <a:sym typeface="Raleway"/>
              </a:rPr>
              <a:t>Send push notifications for real-time updates and improved user engagement.</a:t>
            </a:r>
            <a:endParaRPr/>
          </a:p>
        </p:txBody>
      </p:sp>
      <p:sp>
        <p:nvSpPr>
          <p:cNvPr id="285" name="Google Shape;285;p34"/>
          <p:cNvSpPr txBox="1"/>
          <p:nvPr/>
        </p:nvSpPr>
        <p:spPr>
          <a:xfrm>
            <a:off x="1599747" y="5705902"/>
            <a:ext cx="622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aleway"/>
                <a:ea typeface="Raleway"/>
                <a:cs typeface="Raleway"/>
                <a:sym typeface="Raleway"/>
              </a:rPr>
              <a:t>Learned to build and publish CLI tools on npm using Commander.js</a:t>
            </a:r>
            <a:endParaRPr/>
          </a:p>
        </p:txBody>
      </p:sp>
      <p:sp>
        <p:nvSpPr>
          <p:cNvPr id="286" name="Google Shape;286;p34"/>
          <p:cNvSpPr txBox="1"/>
          <p:nvPr/>
        </p:nvSpPr>
        <p:spPr>
          <a:xfrm>
            <a:off x="1599747" y="7080960"/>
            <a:ext cx="622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Raleway"/>
                <a:ea typeface="Raleway"/>
                <a:cs typeface="Raleway"/>
                <a:sym typeface="Raleway"/>
              </a:rPr>
              <a:t>Learned how to design scalable, maintainable APIs with clear structure, versioning, and best practices.</a:t>
            </a:r>
            <a:endParaRPr/>
          </a:p>
        </p:txBody>
      </p:sp>
      <p:sp>
        <p:nvSpPr>
          <p:cNvPr id="287" name="Google Shape;287;p34"/>
          <p:cNvSpPr txBox="1"/>
          <p:nvPr/>
        </p:nvSpPr>
        <p:spPr>
          <a:xfrm>
            <a:off x="1599752" y="3905104"/>
            <a:ext cx="59205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1">
                <a:latin typeface="Raleway"/>
                <a:ea typeface="Raleway"/>
                <a:cs typeface="Raleway"/>
                <a:sym typeface="Raleway"/>
              </a:rPr>
              <a:t>Firebase Cloud Message</a:t>
            </a:r>
            <a:endParaRPr/>
          </a:p>
        </p:txBody>
      </p:sp>
      <p:sp>
        <p:nvSpPr>
          <p:cNvPr id="288" name="Google Shape;288;p34"/>
          <p:cNvSpPr txBox="1"/>
          <p:nvPr/>
        </p:nvSpPr>
        <p:spPr>
          <a:xfrm>
            <a:off x="1599747" y="5280168"/>
            <a:ext cx="3262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1">
                <a:latin typeface="Raleway"/>
                <a:ea typeface="Raleway"/>
                <a:cs typeface="Raleway"/>
                <a:sym typeface="Raleway"/>
              </a:rPr>
              <a:t>Command Line Tool</a:t>
            </a:r>
            <a:endParaRPr/>
          </a:p>
        </p:txBody>
      </p:sp>
      <p:sp>
        <p:nvSpPr>
          <p:cNvPr id="289" name="Google Shape;289;p34"/>
          <p:cNvSpPr txBox="1"/>
          <p:nvPr/>
        </p:nvSpPr>
        <p:spPr>
          <a:xfrm>
            <a:off x="1599747" y="6655227"/>
            <a:ext cx="3262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1">
                <a:latin typeface="Raleway"/>
                <a:ea typeface="Raleway"/>
                <a:cs typeface="Raleway"/>
                <a:sym typeface="Raleway"/>
              </a:rPr>
              <a:t>Design Principles</a:t>
            </a:r>
            <a:endParaRPr/>
          </a:p>
        </p:txBody>
      </p:sp>
      <p:sp>
        <p:nvSpPr>
          <p:cNvPr id="290" name="Google Shape;290;p34"/>
          <p:cNvSpPr txBox="1"/>
          <p:nvPr/>
        </p:nvSpPr>
        <p:spPr>
          <a:xfrm>
            <a:off x="1609272" y="8341719"/>
            <a:ext cx="622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Hands-on experience with server environments, command-line operations, and VPS management.</a:t>
            </a:r>
            <a:endParaRPr/>
          </a:p>
        </p:txBody>
      </p:sp>
      <p:sp>
        <p:nvSpPr>
          <p:cNvPr id="291" name="Google Shape;291;p34"/>
          <p:cNvSpPr txBox="1"/>
          <p:nvPr/>
        </p:nvSpPr>
        <p:spPr>
          <a:xfrm>
            <a:off x="1609272" y="7915985"/>
            <a:ext cx="32628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1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Deployment</a:t>
            </a:r>
            <a:endParaRPr/>
          </a:p>
        </p:txBody>
      </p:sp>
      <p:pic>
        <p:nvPicPr>
          <p:cNvPr id="292" name="Google Shape;292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0138" y="2199988"/>
            <a:ext cx="1730568" cy="2180515"/>
          </a:xfrm>
          <a:prstGeom prst="rect">
            <a:avLst/>
          </a:prstGeom>
          <a:solidFill>
            <a:srgbClr val="F6F6F6"/>
          </a:solidFill>
          <a:ln>
            <a:noFill/>
          </a:ln>
        </p:spPr>
      </p:pic>
      <p:pic>
        <p:nvPicPr>
          <p:cNvPr id="293" name="Google Shape;293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70050" y="2199988"/>
            <a:ext cx="2180515" cy="2180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817963" y="6089763"/>
            <a:ext cx="2180515" cy="21805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34" title="server-minimalistic-svgrepo-co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57420" y="5612043"/>
            <a:ext cx="2969675" cy="2969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0" name="Google Shape;300;p35"/>
          <p:cNvGrpSpPr/>
          <p:nvPr/>
        </p:nvGrpSpPr>
        <p:grpSpPr>
          <a:xfrm>
            <a:off x="0" y="-216993"/>
            <a:ext cx="6108832" cy="10504504"/>
            <a:chOff x="0" y="-57150"/>
            <a:chExt cx="1608900" cy="2766600"/>
          </a:xfrm>
        </p:grpSpPr>
        <p:sp>
          <p:nvSpPr>
            <p:cNvPr id="301" name="Google Shape;301;p35"/>
            <p:cNvSpPr/>
            <p:nvPr/>
          </p:nvSpPr>
          <p:spPr>
            <a:xfrm>
              <a:off x="0" y="0"/>
              <a:ext cx="1608878" cy="2709333"/>
            </a:xfrm>
            <a:custGeom>
              <a:rect b="b" l="l" r="r" t="t"/>
              <a:pathLst>
                <a:path extrusionOk="0" h="2709333" w="1608878">
                  <a:moveTo>
                    <a:pt x="0" y="0"/>
                  </a:moveTo>
                  <a:lnTo>
                    <a:pt x="1608878" y="0"/>
                  </a:lnTo>
                  <a:lnTo>
                    <a:pt x="160887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8AB6EB"/>
            </a:solidFill>
            <a:ln>
              <a:noFill/>
            </a:ln>
          </p:spPr>
        </p:sp>
        <p:sp>
          <p:nvSpPr>
            <p:cNvPr id="302" name="Google Shape;302;p35"/>
            <p:cNvSpPr txBox="1"/>
            <p:nvPr/>
          </p:nvSpPr>
          <p:spPr>
            <a:xfrm>
              <a:off x="0" y="-57150"/>
              <a:ext cx="1608900" cy="276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78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3" name="Google Shape;303;p35"/>
          <p:cNvGrpSpPr/>
          <p:nvPr/>
        </p:nvGrpSpPr>
        <p:grpSpPr>
          <a:xfrm>
            <a:off x="696290" y="3920191"/>
            <a:ext cx="4913287" cy="2410470"/>
            <a:chOff x="0" y="-9525"/>
            <a:chExt cx="1294026" cy="634852"/>
          </a:xfrm>
        </p:grpSpPr>
        <p:sp>
          <p:nvSpPr>
            <p:cNvPr id="304" name="Google Shape;304;p35"/>
            <p:cNvSpPr/>
            <p:nvPr/>
          </p:nvSpPr>
          <p:spPr>
            <a:xfrm>
              <a:off x="0" y="0"/>
              <a:ext cx="1294026" cy="625327"/>
            </a:xfrm>
            <a:custGeom>
              <a:rect b="b" l="l" r="r" t="t"/>
              <a:pathLst>
                <a:path extrusionOk="0" h="625327" w="1294026">
                  <a:moveTo>
                    <a:pt x="0" y="0"/>
                  </a:moveTo>
                  <a:lnTo>
                    <a:pt x="1294026" y="0"/>
                  </a:lnTo>
                  <a:lnTo>
                    <a:pt x="1294026" y="625327"/>
                  </a:lnTo>
                  <a:lnTo>
                    <a:pt x="0" y="62532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85725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305" name="Google Shape;305;p35"/>
            <p:cNvSpPr txBox="1"/>
            <p:nvPr/>
          </p:nvSpPr>
          <p:spPr>
            <a:xfrm>
              <a:off x="0" y="-9525"/>
              <a:ext cx="1293900" cy="6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600">
                  <a:latin typeface="Raleway"/>
                  <a:ea typeface="Raleway"/>
                  <a:cs typeface="Raleway"/>
                  <a:sym typeface="Raleway"/>
                </a:rPr>
                <a:t>Self Judgement</a:t>
              </a:r>
              <a:endParaRPr/>
            </a:p>
          </p:txBody>
        </p:sp>
      </p:grpSp>
      <p:sp>
        <p:nvSpPr>
          <p:cNvPr id="306" name="Google Shape;306;p35"/>
          <p:cNvSpPr txBox="1"/>
          <p:nvPr/>
        </p:nvSpPr>
        <p:spPr>
          <a:xfrm>
            <a:off x="6464653" y="2549774"/>
            <a:ext cx="11350800" cy="57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1. </a:t>
            </a:r>
            <a:r>
              <a:rPr lang="en-US" sz="2799">
                <a:latin typeface="Raleway"/>
                <a:ea typeface="Raleway"/>
                <a:cs typeface="Raleway"/>
                <a:sym typeface="Raleway"/>
              </a:rPr>
              <a:t>Gained exposure to real-world industry practices and professional development workflows.</a:t>
            </a:r>
            <a:endParaRPr/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2. </a:t>
            </a:r>
            <a:r>
              <a:rPr lang="en-US" sz="2799">
                <a:latin typeface="Raleway"/>
                <a:ea typeface="Raleway"/>
                <a:cs typeface="Raleway"/>
                <a:sym typeface="Raleway"/>
              </a:rPr>
              <a:t>Due to separate seating arrangements, collaboration with teammates was limited compared to what could have been achieved in a more shared environment.</a:t>
            </a:r>
            <a:endParaRPr/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799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55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9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3. </a:t>
            </a:r>
            <a:r>
              <a:rPr lang="en-US" sz="2799">
                <a:latin typeface="Raleway"/>
                <a:ea typeface="Raleway"/>
                <a:cs typeface="Raleway"/>
                <a:sym typeface="Raleway"/>
              </a:rPr>
              <a:t>Maintained a super friendly, positive, and helpful attitude, contributing to a supportive work atmosphere.</a:t>
            </a:r>
            <a:endParaRPr b="0" i="0" sz="2799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B6EB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6"/>
          <p:cNvSpPr txBox="1"/>
          <p:nvPr/>
        </p:nvSpPr>
        <p:spPr>
          <a:xfrm>
            <a:off x="2039328" y="3826664"/>
            <a:ext cx="7459961" cy="9482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3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347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Thank You!</a:t>
            </a:r>
            <a:endParaRPr/>
          </a:p>
        </p:txBody>
      </p:sp>
      <p:cxnSp>
        <p:nvCxnSpPr>
          <p:cNvPr id="312" name="Google Shape;312;p36"/>
          <p:cNvCxnSpPr/>
          <p:nvPr/>
        </p:nvCxnSpPr>
        <p:spPr>
          <a:xfrm>
            <a:off x="2039328" y="5119639"/>
            <a:ext cx="7459961" cy="0"/>
          </a:xfrm>
          <a:prstGeom prst="straightConnector1">
            <a:avLst/>
          </a:prstGeom>
          <a:noFill/>
          <a:ln cap="flat" cmpd="sng" w="476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36"/>
          <p:cNvSpPr txBox="1"/>
          <p:nvPr/>
        </p:nvSpPr>
        <p:spPr>
          <a:xfrm>
            <a:off x="2039328" y="5442364"/>
            <a:ext cx="4352827" cy="522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69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For your listening...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